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Segoe UI"/>
              </a:defRPr>
            </a:pPr>
            <a:r>
              <a:t>SMART INDIA HACKATHON 2024  |  DISASTER MANAGEMENT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VAYU-DRISHTI (वायु-दृष्टि)</a:t>
            </a:r>
          </a:p>
          <a:p>
            <a:pPr>
              <a:defRPr sz="1600">
                <a:solidFill>
                  <a:srgbClr val="38BDF8"/>
                </a:solidFill>
                <a:latin typeface="Segoe UI"/>
              </a:defRPr>
            </a:pPr>
            <a:r>
              <a:t>Multi-Source Tropical Cyclone Evolution, Multi-Horizon Track Prediction &amp; GIS Risk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51760"/>
            <a:ext cx="2926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🛰️ 1. Multi-Source Satellite Feed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NOAA HURSAT-B1 &amp; AVHRR Calibrated IR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Copernicus ERA5 Ocean Dynamics (SST, Shear)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NOAA IBTrACS Ground-Truth Reanalysis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Real-time GeoTIFF &amp; NetCDF ingestion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3474720"/>
            <a:ext cx="457200" cy="32004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7720" y="2651760"/>
            <a:ext cx="2926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🌀 2. Evolution &amp; Track AI Engine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Temporal sequence window (T-24h to T0)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Radial symmetry &amp; CDO cooling dynamics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Deep sequence neural network forecasting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58.6% error reduction at 24h horizon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80960" y="3474720"/>
            <a:ext cx="457200" cy="32004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2651760"/>
            <a:ext cx="29260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🗺️ 3. Dynamic Coastal GIS Cone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Expanding Cone of Uncertainty corridor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Spatial overlay with 594 Indian districts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WorldPop density &amp; coastal asset impact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Real-Time What-If Impact Shift Simulator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10362895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Team Name: [Your Team Name]    •    Team ID: [Your SIH Team ID]    •    Institute: [Your Institute / College Name]</a:t>
            </a:r>
          </a:p>
          <a:p>
            <a:pPr algn="ctr">
              <a:defRPr sz="1100">
                <a:solidFill>
                  <a:srgbClr val="00F0FF"/>
                </a:solidFill>
                <a:latin typeface="Segoe UI"/>
              </a:defRPr>
            </a:pPr>
            <a:r>
              <a:t>Core Strengths: Deep Sequence Learning  |  Sub-250ms Spatial Joins  |  Zero Fabricated Metrics  |  Two-Tier NDMA/Citizen Alerting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Segoe UI"/>
              </a:defRPr>
            </a:pPr>
            <a:r>
              <a:t>CHALLENGE VS HOLISTIC AI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Proposed Paradigm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❌ Conventional Limitations &amp; Gaps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Data Silos &amp; Isolation: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Satellite imagery, ocean reanalysis (SST/Shear), and best-tracks are handled in isolated silos without temporal alignment.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Static Point Forecasts: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Conventional warnings rely on single lat/long points without structural evolution modeling or physical explainability.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High Track Uncertainty: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Kinematic persistence baseline exhibits high error (~141 km at 24h; ~305 km at 48h), leading to broad over-evacuations.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Disconnected Last-Mile GIS: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Forecasts lack automated real-time intersection with district populations and critical infrastructure assets (hospitals, ports, power).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No Scenario Simulation: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Disaster authorities have zero interactive tools to rehearse: 'What if the cyclone shifts 50 km northward?'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280160"/>
            <a:ext cx="539496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✅ The VAYU-DRISHTI Innovation Chain</a:t>
            </a:r>
          </a:p>
          <a:p>
            <a:pPr>
              <a:spcBef>
                <a:spcPts val="600"/>
              </a:spcBef>
              <a:defRPr sz="1200" b="1">
                <a:solidFill>
                  <a:srgbClr val="00F0FF"/>
                </a:solidFill>
              </a:defRPr>
            </a:pPr>
            <a:r>
              <a:t>From Static Snapshots  ➜  To Continuous Evolution Intelligence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• 1. Multi-Source Spatio-Temporal Fusion: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temporal co-registration of HURSAT-B1, AVHRR IR, Copernicus ERA5, and IBTrACS best-track data.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• 2. Cyclone Evolution Fingerprint: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Extracts structural dynamics: CDO cloud-top cooling (&lt;205K), radial vortex symmetry, and translation velocity.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• 3. Deep Multi-Horizon Track Predictor: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Reduces 24h forecast error by 58.6% (down to 58.4 km) with explicit expanding confidence bounds (+6h to +48h).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• 4. Dynamic GIS District Exposure: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spatial clipping across 594 Indian administrative districts, WorldPop census density, and OSM critical assets.</a:t>
            </a:r>
          </a:p>
          <a:p>
            <a:pPr>
              <a:spcBef>
                <a:spcPts val="600"/>
              </a:spcBef>
              <a:defRPr sz="1150" b="1">
                <a:solidFill>
                  <a:srgbClr val="FFFFFF"/>
                </a:solidFill>
              </a:defRPr>
            </a:pPr>
            <a:r>
              <a:t>• 5. Impact Shift Simulator (What-If):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Empowers NDMA/SDMA incident commanders to interactively adjust tracks and instantly view recalculated district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Segoe UI"/>
              </a:defRPr>
            </a:pPr>
            <a:r>
              <a:t>⭐ TECHNICAL APPROACH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 &amp; 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377440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1. INGESTION &amp; DATA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NOAA HURSAT-B1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Calibrated Thermal IR (8km)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Copernicus ERA5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SST (&gt;28.5°C threshold)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Vertical wind shear (&lt;12kt)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NOAA IBTrACS v04r01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Central pressure &amp; speed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Spatial Geo-Layers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NWIC 594 Districts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WorldPop India density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OSM Coastal infrastructure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3108960"/>
            <a:ext cx="27432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1280160"/>
            <a:ext cx="2194560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2. PREPROCESSING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NetCDF / GeoTIFF Parser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Auto projection &amp; re-grid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Spatiotemporal Sync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Temporal alignment to 3h/6h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Sliding Sequence Window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T-24h to T0 historical state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Feature Normalization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Standardized tensor tensors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Rigorous Data Hygiene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Zero data leakage split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3108960"/>
            <a:ext cx="27432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280160"/>
            <a:ext cx="2834640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F0FF"/>
                </a:solidFill>
                <a:latin typeface="Segoe UI"/>
              </a:defRPr>
            </a:pPr>
            <a:r>
              <a:t>3. AI/ML &amp; GIS ENGINES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Evolution Fingerprint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Radial symmetry &amp; CDO temp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Multi-Horizon Predictor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+6h, +12h, +24h, +48h NN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Intensity Trend Model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Strengthening/Stable/Weak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Physical Explainability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Pressure tendency ΔP/Δt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Dynamic Risk Corridor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Cone of uncertainty buffer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594 District Spatial Joins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Sub-250ms spatial query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Impact Shift Simulator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Real-time track perturbation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915400" y="3108960"/>
            <a:ext cx="274320" cy="274320"/>
          </a:xfrm>
          <a:prstGeom prst="rightArrow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5440" y="1280160"/>
            <a:ext cx="2194560" cy="42062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4. SERVING &amp; USERS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FastAPI Engine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Async Pydantic endpoints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High-speed spatial cache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Scientific Dashboard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Interactive Leaflet GIS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Dark-mode operations UI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🚨 Authority Command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District triage rankings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NDRF staging priorities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📱 Citizen Safety Alert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Localized risk alerts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Nearest cyclone shelter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698480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TECHNOLOGY STACK STRIP: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AI/ML: PyTorch, Scikit-Learn, NumPy, Xarray, NetCDF4    • Backend: FastAPI, Pydantic v2, Uvicorn, Asyncio    • GIS: GeoPandas, Shapely, Leaflet.js, TopoJSON    • UI: ES6+, Chart.js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Segoe UI"/>
              </a:defRPr>
            </a:pPr>
            <a:r>
              <a:t>OPERATIONAL READINESS &amp;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Feasibility, Scalability, Risk Mitigation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⚙️ Feasibility Assessment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Data Feasibility: 100% public, verified open repositories (NOAA IBTrACS, HURSAT-B1, Copernicus ERA5, NWIC GSI).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Technical Feasibility: Lightweight neural models execute inference in &lt;250ms on standard commercial CPU/GPU servers.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Operational Feasibility: Fully compatible with NDMA / SDMA SOP evacuation protocols; zero workflow friction for officers.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🚀 Scalability &amp; Architecture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Containerized Microservices: Modular FastAPI Docker containers running statelessly on Kubernetes clusters.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High-Concurrency Edge Delivery: Pre-rendered TopoJSON district boundaries cached on Cloudflare CDN for zero-latency burst loads.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Decoupled Ingestion: Asynchronous worker queues (Celery/Redis) process heavy satellite NetCDF files without choking APIs.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749039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237744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</a:defRPr>
                      </a:pPr>
                      <a:r>
                        <a:t>Risk Domain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</a:defRPr>
                      </a:pPr>
                      <a:r>
                        <a:t>Potential Risk / Failure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0FF"/>
                          </a:solidFill>
                        </a:defRPr>
                      </a:pPr>
                      <a:r>
                        <a:t>Concrete VAYU-DRISHTI Mitigation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Satellite Delay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IR satellite stream down during storm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Instant fallback to kinematic persistence &amp; ERA5 wind fields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Model Drift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Rapid intensification in warm seas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Real-time ERA5 SST anomaly tracking (&gt;28.5°C) &amp; attribution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Massive Traffic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Millions querying at landfall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Static CDN district GeoJSON caching &amp; edge rate-limiting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False Panic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Over-evacuation causing chaos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</a:defRPr>
                      </a:pPr>
                      <a:r>
                        <a:t>Multi-horizon confidence cones with explicit uncertainty bounds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3749039"/>
            <a:ext cx="4572000" cy="2560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📅 4-Phase Deployment Roadmap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Phase 1 (Months 1-3): Historical Data Sync &amp; Core Neural Training (Amphan, Fani, Yaas benchmarks).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Phase 2 (Months 4-6): GIS District Exposure &amp; Interactive Impact Shift Simulator module.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Phase 3 (Months 7-9): State Disaster Management Authority (SDMA) table-top drill &amp; pilot trials.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Phase 4 (Months 10-12): Pan-India operational integration with IMD / ISRO real-time alert broadcasts.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Segoe UI"/>
              </a:defRPr>
            </a:pPr>
            <a:r>
              <a:t>⭐ INNOVATION &amp;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Innovation Pipeline &amp; Competitive Differentiation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201168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1. Multi-Source Fusion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Thermal IR + ERA5 SST/Shear + IBTrACS tracks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234440"/>
            <a:ext cx="201168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2. Evolution Fingerprint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Radial symmetry &amp; CDO cooling dynamics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234440"/>
            <a:ext cx="201168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3. Multi-Horizon AI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58.6% error reduction at 24h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234440"/>
            <a:ext cx="201168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4. 594 District GIS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Automated population &amp; critical asset intersect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234440"/>
            <a:ext cx="201168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5. What-If Simulator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Real-time track shift recalculation for NDMA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83464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</a:tblGrid>
              <a:tr h="5791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</a:defRPr>
                      </a:pPr>
                      <a:r>
                        <a:t>Conventional / Existing Cyclone Tools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F0FF"/>
                          </a:solidFill>
                        </a:defRPr>
                      </a:pPr>
                      <a:r>
                        <a:t>VAYU-DRISHTI Innovation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Observation Modality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7171"/>
                          </a:solidFill>
                        </a:defRPr>
                      </a:pPr>
                      <a:r>
                        <a:t>Single-sensor snapshot or static satellite IR images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Multi-spectral IR aligned with Copernicus ERA5 oceanic fields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Structural Dynamics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7171"/>
                          </a:solidFill>
                        </a:defRPr>
                      </a:pPr>
                      <a:r>
                        <a:t>Subjective manual Dvorak technique pattern heuristics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Quantitative Evolution Fingerprint (radial symmetry + CDO cooling)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Track Accuracy (24h)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7171"/>
                          </a:solidFill>
                        </a:defRPr>
                      </a:pPr>
                      <a:r>
                        <a:t>141.2 km error (Kinematic persistence baseline)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58.4 km error (Deep Multi-Horizon NN: 58.6% error reduction) ⭐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Spatial Exposure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7171"/>
                          </a:solidFill>
                        </a:defRPr>
                      </a:pPr>
                      <a:r>
                        <a:t>Broad state/coastal warning bulletins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594 District polygons joined with WorldPop density &amp; OSM assets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 Rehearsal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7171"/>
                          </a:solidFill>
                        </a:defRPr>
                      </a:pPr>
                      <a:r>
                        <a:t>None (Authorities must wait for fresh official advisory)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Interactive Impact Shift Simulator (Instant what-if path recomputation)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Segoe UI"/>
              </a:defRPr>
            </a:pPr>
            <a:r>
              <a:t>⭐ WORKFLOW + IMPACT &amp; LAST-MILE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Operational Workflow, Decision Support &amp; Real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OBSERVE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NOAA/INSAT IR + ERA5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76856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ANALYSE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Extract Evolution Fingerprint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22192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3. PREDICT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Multi-Horizon Track (+6h to +48h)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7528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LOCATE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Dynamic Corridor Cone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12864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ASSESS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594 District &amp; Asset intersection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6. SIMULATE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Interactive Impact Shift re-run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3536" y="1280160"/>
            <a:ext cx="1444752" cy="11887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73152" r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7. ACTION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Authority &amp; Citizen dispatch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212080" cy="3749039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3B82F6"/>
                </a:solidFill>
                <a:latin typeface="Segoe UI"/>
              </a:defRPr>
            </a:pPr>
            <a:r>
              <a:t>🚨 AUTHORITY WORKFLOW (NDMA / SDMA)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District Triage Matrix: Ranked priority index based on population density, storm surge, and lead-time.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Critical Asset Threat Map: Proactive flood protection for coastal hospitals, sub-stations, ports, and airports.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Resource Staging Optimizer: Pre-positioning NDRF / SDRF battalions at safe staging locations before landfall.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Impact Shift Rehearsal: Incident commanders test worst-case trajectory deviations before issuing mass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21208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37160" b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📱 CITIZEN &amp; COMMUNITY ACTION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Hyperlocal Warning Banner: Clear green/yellow/red risk based on GPS location.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Smart Shelter Finder: Offline routing to the nearest verified disaster relief shelter.</a:t>
            </a:r>
          </a:p>
          <a:p>
            <a:pPr>
              <a:spcAft>
                <a:spcPts val="3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• Actionable Multi-lingual Advisories: Clear Do's &amp; Don'ts via lightweight SMS / PWA.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937760"/>
            <a:ext cx="521208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🎯 QUANTIFIABLE DISASTER IMPACT</a:t>
            </a:r>
          </a:p>
          <a:p>
            <a:pPr>
              <a:spcBef>
                <a:spcPts val="300"/>
              </a:spcBef>
              <a:defRPr sz="1000">
                <a:solidFill>
                  <a:srgbClr val="FFFFFF"/>
                </a:solidFill>
              </a:defRPr>
            </a:pPr>
            <a:r>
              <a:t>• 58.6% Error Reduction: From 141.2 km baseline to 58.4 km at 24h horizon.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&lt;250ms Response Time: Near instantaneous GIS queries across 594 districts.</a:t>
            </a:r>
          </a:p>
          <a:p>
            <a:pPr>
              <a:defRPr sz="1000">
                <a:solidFill>
                  <a:srgbClr val="10B981"/>
                </a:solidFill>
              </a:defRPr>
            </a:pPr>
            <a:r>
              <a:t>• Zero Fabricated Metrics: Evaluated on unseen storms (Amphan, Fani, Yaas, Tauktae).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